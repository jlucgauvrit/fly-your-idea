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0c0a75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0c0a75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264425" y="1450450"/>
            <a:ext cx="2566200" cy="294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Quantum-Ready Sky Architecture Overview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500" y="2109451"/>
            <a:ext cx="2153151" cy="14354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-54925" y="35972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100">
                <a:solidFill>
                  <a:schemeClr val="dk1"/>
                </a:solidFill>
              </a:rPr>
              <a:t>Sensors, Avionics &amp; IFE Systems</a:t>
            </a:r>
            <a:r>
              <a:rPr lang="fr" sz="1100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1888" y="1639750"/>
            <a:ext cx="1400225" cy="9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3072000" y="25168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PQC Engine (CRYSTALS-Kyber/Dilithium)</a:t>
            </a:r>
            <a:endParaRPr sz="900"/>
          </a:p>
        </p:txBody>
      </p:sp>
      <p:cxnSp>
        <p:nvCxnSpPr>
          <p:cNvPr id="60" name="Google Shape;60;p13"/>
          <p:cNvCxnSpPr/>
          <p:nvPr/>
        </p:nvCxnSpPr>
        <p:spPr>
          <a:xfrm>
            <a:off x="2760638" y="3002262"/>
            <a:ext cx="38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3"/>
          <p:cNvCxnSpPr/>
          <p:nvPr/>
        </p:nvCxnSpPr>
        <p:spPr>
          <a:xfrm>
            <a:off x="6201213" y="2994912"/>
            <a:ext cx="6819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" name="Google Shape;62;p13"/>
          <p:cNvSpPr txBox="1"/>
          <p:nvPr/>
        </p:nvSpPr>
        <p:spPr>
          <a:xfrm>
            <a:off x="2275550" y="2516813"/>
            <a:ext cx="135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Raw Data</a:t>
            </a:r>
            <a:endParaRPr sz="900"/>
          </a:p>
        </p:txBody>
      </p:sp>
      <p:sp>
        <p:nvSpPr>
          <p:cNvPr id="63" name="Google Shape;63;p13"/>
          <p:cNvSpPr txBox="1"/>
          <p:nvPr/>
        </p:nvSpPr>
        <p:spPr>
          <a:xfrm>
            <a:off x="5868575" y="2516813"/>
            <a:ext cx="13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Quantum-Resistant Encrypted Data</a:t>
            </a:r>
            <a:endParaRPr sz="90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5317" y="2908275"/>
            <a:ext cx="1033376" cy="6889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/>
          <p:nvPr/>
        </p:nvSpPr>
        <p:spPr>
          <a:xfrm>
            <a:off x="3072000" y="37585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AI Supervision Agent (Unsupervised Learning)</a:t>
            </a:r>
            <a:endParaRPr sz="900"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61325" y="1572700"/>
            <a:ext cx="1672625" cy="250892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6597625" y="414625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900">
                <a:solidFill>
                  <a:schemeClr val="dk1"/>
                </a:solidFill>
              </a:rPr>
              <a:t>Secure SATCOM / IP-Datalink</a:t>
            </a:r>
            <a:r>
              <a:rPr lang="fr" sz="900">
                <a:solidFill>
                  <a:schemeClr val="dk1"/>
                </a:solidFill>
              </a:rPr>
              <a:t>.</a:t>
            </a:r>
            <a:endParaRPr sz="900"/>
          </a:p>
        </p:txBody>
      </p:sp>
      <p:sp>
        <p:nvSpPr>
          <p:cNvPr id="68" name="Google Shape;68;p13"/>
          <p:cNvSpPr txBox="1"/>
          <p:nvPr/>
        </p:nvSpPr>
        <p:spPr>
          <a:xfrm>
            <a:off x="630350" y="4636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🛡️ Cryptographic Agility</a:t>
            </a: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3072000" y="4636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⚡ Real-Time Performance</a:t>
            </a: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5748175" y="4636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🧠 Proactive Detection</a:t>
            </a:r>
            <a:endParaRPr/>
          </a:p>
        </p:txBody>
      </p:sp>
      <p:sp>
        <p:nvSpPr>
          <p:cNvPr id="71" name="Google Shape;71;p13"/>
          <p:cNvSpPr txBox="1"/>
          <p:nvPr/>
        </p:nvSpPr>
        <p:spPr>
          <a:xfrm>
            <a:off x="3894613" y="4025238"/>
            <a:ext cx="135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900"/>
              <a:t>Hybride Module</a:t>
            </a:r>
            <a:endParaRPr i="1" sz="900"/>
          </a:p>
        </p:txBody>
      </p:sp>
      <p:cxnSp>
        <p:nvCxnSpPr>
          <p:cNvPr id="72" name="Google Shape;72;p13"/>
          <p:cNvCxnSpPr>
            <a:endCxn id="73" idx="2"/>
          </p:cNvCxnSpPr>
          <p:nvPr/>
        </p:nvCxnSpPr>
        <p:spPr>
          <a:xfrm flipH="1" rot="10800000">
            <a:off x="2336375" y="3499325"/>
            <a:ext cx="1291200" cy="88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3"/>
          <p:cNvSpPr txBox="1"/>
          <p:nvPr/>
        </p:nvSpPr>
        <p:spPr>
          <a:xfrm>
            <a:off x="1085650" y="4081625"/>
            <a:ext cx="13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FF0000"/>
                </a:solidFill>
              </a:rPr>
              <a:t>Cyber Attack / Spoofing</a:t>
            </a:r>
            <a:endParaRPr b="1" sz="900">
              <a:solidFill>
                <a:srgbClr val="FF0000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3264425" y="3099125"/>
            <a:ext cx="7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2"/>
                </a:solidFill>
              </a:rPr>
              <a:t>Blocked / Alert sent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806825" y="3420075"/>
            <a:ext cx="51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🛡️</a:t>
            </a:r>
            <a:endParaRPr/>
          </a:p>
        </p:txBody>
      </p:sp>
      <p:cxnSp>
        <p:nvCxnSpPr>
          <p:cNvPr id="76" name="Google Shape;76;p13"/>
          <p:cNvCxnSpPr/>
          <p:nvPr/>
        </p:nvCxnSpPr>
        <p:spPr>
          <a:xfrm rot="10800000">
            <a:off x="5437000" y="2878300"/>
            <a:ext cx="0" cy="75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